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463040"/>
            <a:ext cx="9418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</a:rPr>
              <a:t>TRADING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606040"/>
            <a:ext cx="9418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59E0B"/>
                </a:solidFill>
              </a:rPr>
              <a:t>Strategy B — Architecture &amp; System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337560"/>
            <a:ext cx="9418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94A3B8"/>
                </a:solidFill>
              </a:rPr>
              <a:t>Blue-chip pool system  ·  R-ladder stops  ·  $50K paper account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63640"/>
            <a:ext cx="9418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Version 1.10  |  June 2026  |  Paper Trading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Strategy B vs Strategy A — What's Different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67512"/>
            <a:ext cx="3657600" cy="3840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60520" y="667512"/>
            <a:ext cx="3657600" cy="384048"/>
          </a:xfrm>
          <a:prstGeom prst="rect">
            <a:avLst/>
          </a:prstGeom>
          <a:solidFill>
            <a:srgbClr val="1E2A3A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</a:rPr>
              <a:t>Strategy A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1000" y="667512"/>
            <a:ext cx="3840480" cy="384048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59E0B"/>
                </a:solidFill>
              </a:rPr>
              <a:t>Strategy B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365760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300" b="1">
                <a:solidFill>
                  <a:srgbClr val="3B82F6"/>
                </a:solidFill>
              </a:rPr>
              <a:t>Universe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097280"/>
            <a:ext cx="365760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94A3B8"/>
                </a:solidFill>
              </a:rPr>
              <a:t>430+ broad tickers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1000" y="1097280"/>
            <a:ext cx="3840480" cy="822960"/>
          </a:xfrm>
          <a:prstGeom prst="rect">
            <a:avLst/>
          </a:prstGeom>
          <a:solidFill>
            <a:srgbClr val="3D1A0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CBD5E1"/>
                </a:solidFill>
              </a:rPr>
              <a:t>Pool 1/2/3 (80→40→20)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75104"/>
            <a:ext cx="365760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300" b="1">
                <a:solidFill>
                  <a:srgbClr val="3B82F6"/>
                </a:solidFill>
              </a:rPr>
              <a:t>Stock 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975104"/>
            <a:ext cx="365760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94A3B8"/>
                </a:solidFill>
              </a:rPr>
              <a:t>Any liquid stock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75104"/>
            <a:ext cx="3840480" cy="822960"/>
          </a:xfrm>
          <a:prstGeom prst="rect">
            <a:avLst/>
          </a:prstGeom>
          <a:solidFill>
            <a:srgbClr val="3D1A0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CBD5E1"/>
                </a:solidFill>
              </a:rPr>
              <a:t>Blue chips: AAPL, MSFT, NVDA…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852928"/>
            <a:ext cx="365760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300" b="1">
                <a:solidFill>
                  <a:srgbClr val="3B82F6"/>
                </a:solidFill>
              </a:rPr>
              <a:t>Stop management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52928"/>
            <a:ext cx="365760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94A3B8"/>
                </a:solidFill>
              </a:rPr>
              <a:t>Fixed stop-loss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2852928"/>
            <a:ext cx="3840480" cy="822960"/>
          </a:xfrm>
          <a:prstGeom prst="rect">
            <a:avLst/>
          </a:prstGeom>
          <a:solidFill>
            <a:srgbClr val="3D1A0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CBD5E1"/>
                </a:solidFill>
              </a:rPr>
              <a:t>R-Ladder: ratchets stop up at +1R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30752"/>
            <a:ext cx="365760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300" b="1">
                <a:solidFill>
                  <a:srgbClr val="3B82F6"/>
                </a:solidFill>
              </a:rPr>
              <a:t>Sizing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60520" y="3730752"/>
            <a:ext cx="365760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94A3B8"/>
                </a:solidFill>
              </a:rPr>
              <a:t>ATR × 0.8, $150 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3730752"/>
            <a:ext cx="3840480" cy="822960"/>
          </a:xfrm>
          <a:prstGeom prst="rect">
            <a:avLst/>
          </a:prstGeom>
          <a:solidFill>
            <a:srgbClr val="3D1A0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CBD5E1"/>
                </a:solidFill>
              </a:rPr>
              <a:t>Same ATR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608576"/>
            <a:ext cx="365760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300" b="1">
                <a:solidFill>
                  <a:srgbClr val="3B82F6"/>
                </a:solidFill>
              </a:rPr>
              <a:t>Pool refresh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60520" y="4608576"/>
            <a:ext cx="3657600" cy="822960"/>
          </a:xfrm>
          <a:prstGeom prst="rect">
            <a:avLst/>
          </a:prstGeom>
          <a:solidFill>
            <a:srgbClr val="141E2E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94A3B8"/>
                </a:solidFill>
              </a:rPr>
              <a:t>Static universe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1000" y="4608576"/>
            <a:ext cx="3840480" cy="822960"/>
          </a:xfrm>
          <a:prstGeom prst="rect">
            <a:avLst/>
          </a:prstGeom>
          <a:solidFill>
            <a:srgbClr val="3D1A0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l"/>
            <a:r>
              <a:rPr sz="1200" b="0">
                <a:solidFill>
                  <a:srgbClr val="CBD5E1"/>
                </a:solidFill>
              </a:rPr>
              <a:t>Pool 3 rebuilt daily by filter_score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The Pool System — Three 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1920240"/>
            <a:ext cx="3636264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Pool 1
~80 tickers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S&amp;P 500 large caps
Liquidity-qualified
Stable, lower volatility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47160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6344" y="1920240"/>
            <a:ext cx="3636264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Pool 2
40 tickers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Highest-quality subset
Top blue chips:
AAPL, MSFT, NVDA, GOOGL…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6032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5215" y="1920240"/>
            <a:ext cx="3636264" cy="182880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F59E0B"/>
                </a:solidFill>
              </a:rPr>
              <a:t>Pool 3
20 tickers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Top 20 by filter_score
Rebuilt daily at open
Best setups that 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5074920"/>
            <a:ext cx="11548872" cy="1188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l"/>
            <a:r>
              <a:rPr sz="1300" b="1">
                <a:solidFill>
                  <a:srgbClr val="F59E0B"/>
                </a:solidFill>
              </a:rPr>
              <a:t>Claude selects from Pool 3 only.  Pool 3 is rebuilt every day based on filter_score.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Pool 1 and Pool 2 are maintained lists. filter_score combines: RSI, MACD, volume_ratio, gap_pct, atr.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Premarket Pipeline — Pool to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2286000"/>
            <a:ext cx="2064715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400" b="1">
                <a:solidFill>
                  <a:srgbClr val="3B82F6"/>
                </a:solidFill>
              </a:rPr>
              <a:t>Market Gate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GO / CAUTION
or SKIP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5611" y="29718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2704795" y="2286000"/>
            <a:ext cx="2064715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400" b="1">
                <a:solidFill>
                  <a:srgbClr val="3B82F6"/>
                </a:solidFill>
              </a:rPr>
              <a:t>Pool 3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top 20 daily
by filter_score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32934" y="29718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5062118" y="2286000"/>
            <a:ext cx="2064715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400" b="1">
                <a:solidFill>
                  <a:srgbClr val="3B82F6"/>
                </a:solidFill>
              </a:rPr>
              <a:t>news_intel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earnings blackout
per ticker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0257" y="29718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7419441" y="2286000"/>
            <a:ext cx="2064715" cy="182880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400" b="1">
                <a:solidFill>
                  <a:srgbClr val="F59E0B"/>
                </a:solidFill>
              </a:rPr>
              <a:t>Claude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trade selection
sonnet-4-6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47580" y="29718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76764" y="2286000"/>
            <a:ext cx="2064715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400" b="1">
                <a:solidFill>
                  <a:srgbClr val="22C55E"/>
                </a:solidFill>
              </a:rPr>
              <a:t>Risk + Orders</a:t>
            </a:r>
          </a:p>
          <a:p>
            <a:pPr algn="ctr"/>
            <a:r>
              <a:rPr sz="1000" b="0">
                <a:solidFill>
                  <a:srgbClr val="CBD5E1"/>
                </a:solidFill>
              </a:rPr>
              <a:t>ATR size, guard
bracket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6419088"/>
            <a:ext cx="11640312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0">
                <a:solidFill>
                  <a:srgbClr val="94A3B8"/>
                </a:solidFill>
              </a:rPr>
              <a:t>Same market gate and risk pipeline as Strategy A. Key difference: Claude only sees Pool 3 (top 20 blue chips), not 430+ tickers.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Intraday — The R-Ladder Stop Ratchet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2926080" cy="128016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800" b="1">
                <a:solidFill>
                  <a:srgbClr val="3B82F6"/>
                </a:solidFill>
              </a:rPr>
              <a:t>Entry Fill</a:t>
            </a:r>
          </a:p>
          <a:p>
            <a:pPr algn="ctr"/>
            <a:r>
              <a:rPr sz="1300" b="0">
                <a:solidFill>
                  <a:srgbClr val="CBD5E1"/>
                </a:solidFill>
              </a:rPr>
              <a:t>Stop = entry − 1R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59" y="13258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685800"/>
            <a:ext cx="3200400" cy="128016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Price reaches +1R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Move stop → breakeven
(entry price, no loss possible)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0" y="13258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685800"/>
            <a:ext cx="3657600" cy="128016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Price reaches +2R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Move stop → entry + 1R
(guaranteed profit locked 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11274552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/>
            <a:r>
              <a:rPr sz="1500" b="1">
                <a:solidFill>
                  <a:srgbClr val="F59E0B"/>
                </a:solidFill>
              </a:rPr>
              <a:t>How the R-Ladder Works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R = the initial risk amount in dollars  (entry − stop_loss) × shares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+1R trigger: price has moved up by one full R from entry → stop moves to entry (breakeven)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+2R trigger: price has moved up by two full R → stop moves to entry + R (guaranteed profit)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Beyond +2R: stop stays at entry+R; target is the take-profit leg of the bracket order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Native Alpaca trailing stop (1%) runs in parallel as an additional safety net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Intraday — Six Exit Conditions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868680"/>
            <a:ext cx="3636264" cy="164592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TARGET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price ≥ target_price
market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276344" y="868680"/>
            <a:ext cx="3636264" cy="164592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EF4444"/>
                </a:solidFill>
              </a:rPr>
              <a:t>STOP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price ≤ stop_loss
market sell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05215" y="868680"/>
            <a:ext cx="3636264" cy="164592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F59E0B"/>
                </a:solidFill>
              </a:rPr>
              <a:t>R_LADDER_BE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+1R reached
stop moved to breakeven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2880360"/>
            <a:ext cx="3636264" cy="164592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F59E0B"/>
                </a:solidFill>
              </a:rPr>
              <a:t>R_LADDER_LOCK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+2R reached
stop moved to entry+R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6344" y="2880360"/>
            <a:ext cx="3636264" cy="164592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F59E0B"/>
                </a:solidFill>
              </a:rPr>
              <a:t>NATIVE_TRAIL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Alpaca trailing
stop fires (1%)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05215" y="2880360"/>
            <a:ext cx="3636264" cy="164592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BONUS_TARGET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daily P&amp;L ≥ bonus
close all positions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86400"/>
            <a:ext cx="1145743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94A3B8"/>
                </a:solidFill>
              </a:rPr>
              <a:t>Position check runs every 15 minutes  ·  R-ladder stops updated first, then exit conditions evaluated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Entry Scan — Intraday Re-Entries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05840"/>
            <a:ext cx="5120640" cy="210312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/>
            <a:r>
              <a:rPr sz="2000" b="1">
                <a:solidFill>
                  <a:srgbClr val="3B82F6"/>
                </a:solidFill>
              </a:rPr>
              <a:t>10:30 AM ET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First intraday window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After open volatility settles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entry_scan.yml cron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812280" y="1005840"/>
            <a:ext cx="5120640" cy="210312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/>
          <a:lstStyle/>
          <a:p>
            <a:pPr algn="ctr"/>
            <a:r>
              <a:rPr sz="2000" b="1">
                <a:solidFill>
                  <a:srgbClr val="3B82F6"/>
                </a:solidFill>
              </a:rPr>
              <a:t>11:30 AM ET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Second intraday window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Mid-morning momentum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entry_scan.yml cron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3429000"/>
            <a:ext cx="11457432" cy="2194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/>
            <a:r>
              <a:rPr sz="1400" b="1">
                <a:solidFill>
                  <a:srgbClr val="F59E0B"/>
                </a:solidFill>
              </a:rPr>
              <a:t>Same pipeline as premarket — runs only if conditions allow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Open position count must be below MAX_POSITIONS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Daily realized P&amp;L must not be negative (no averaging down on a losing day)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Market gate check: re-evaluated at scan time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Sector guard: existing positions count toward the 2-per-sector limit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End of Day — Scoring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1188719"/>
            <a:ext cx="2654046" cy="182880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EF4444"/>
                </a:solidFill>
              </a:rPr>
              <a:t>Force Close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cancel_all_orders
close all positions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64941" y="1874519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4125" y="1188719"/>
            <a:ext cx="2654046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Reconcile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backfill fill_price
mark unfilled UNFILLED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11595" y="1874519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0779" y="1188719"/>
            <a:ext cx="2654046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Performance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P&amp;L, win_rate
friction_gap written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8250" y="1874519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7434" y="1188719"/>
            <a:ext cx="2654046" cy="1828800"/>
          </a:xfrm>
          <a:prstGeom prst="rect">
            <a:avLst/>
          </a:prstGeom>
          <a:solidFill>
            <a:srgbClr val="78350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F59E0B"/>
                </a:solidFill>
              </a:rPr>
              <a:t>Score Tickers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update filter_score
for next day's Pool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291840"/>
            <a:ext cx="11457432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/>
            <a:r>
              <a:rPr sz="1400" b="1">
                <a:solidFill>
                  <a:srgbClr val="F59E0B"/>
                </a:solidFill>
              </a:rPr>
              <a:t>Pool 3 Scoring Loop — how tomorrow's top-20 gets built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RSI:  proximity to 50 (neither overbought nor oversold)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MACD:  histogram direction — positive momentum preferred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Volume ratio:  today's volume vs 20-day average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Gap pct:  clean gap up from prior day's close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ATR:  higher ATR = more intraday movement potential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  ·  Combined into filter_score; top 20 become Pool 3 for next session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Agent Roster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621792"/>
            <a:ext cx="1828800" cy="512064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3B82F6"/>
                </a:solidFill>
              </a:rPr>
              <a:t>market_context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2148839" y="62179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62179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VIX, futures, Fear&amp;Greed, sector ETFs → GO/CAUTION/SKIP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70432"/>
            <a:ext cx="1828800" cy="512064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3B82F6"/>
                </a:solidFill>
              </a:rPr>
              <a:t>Pool builder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39" y="117043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17043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Builds Pool 3 daily: top 20 by filter_score from Pool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19072"/>
            <a:ext cx="1828800" cy="512064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3B82F6"/>
                </a:solidFill>
              </a:rPr>
              <a:t>Scanner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39" y="171907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1907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yfinance OHLCV for Pool 3: RSI, MACD, SMA50/200, ATR, 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67712"/>
            <a:ext cx="1828800" cy="512064"/>
          </a:xfrm>
          <a:prstGeom prst="rect">
            <a:avLst/>
          </a:prstGeom>
          <a:solidFill>
            <a:srgbClr val="1E3A8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3B82F6"/>
                </a:solidFill>
              </a:rPr>
              <a:t>news_intel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39" y="226771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26771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yfinance .calendar: earnings blackout per ticker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816352"/>
            <a:ext cx="1828800" cy="512064"/>
          </a:xfrm>
          <a:prstGeom prst="rect">
            <a:avLst/>
          </a:prstGeom>
          <a:solidFill>
            <a:srgbClr val="78350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F59E0B"/>
                </a:solidFill>
              </a:rPr>
              <a:t>strategy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39" y="281635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claude-sonnet-4-6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281635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Trade selection from Pool 3 — one call per session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364992"/>
            <a:ext cx="1828800" cy="512064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39" y="336499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36499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Loss limit, max positions, R:R floor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913632"/>
            <a:ext cx="1828800" cy="512064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sector_guard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39" y="391363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391363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Max 2 per sector; drops lowest confidence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462272"/>
            <a:ext cx="1828800" cy="512064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atr_sizer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39" y="446227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446227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ATR × 0.8 stop, $150 constant dollar risk, R:R ≥ 2.0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010912"/>
            <a:ext cx="1828800" cy="512064"/>
          </a:xfrm>
          <a:prstGeom prst="rect">
            <a:avLst/>
          </a:prstGeom>
          <a:solidFill>
            <a:srgbClr val="7F1D1D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EF4444"/>
                </a:solidFill>
              </a:rPr>
              <a:t>guardrails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48839" y="501091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66160" y="501091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price sanity ±5%, buying power, BUY-only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559552"/>
            <a:ext cx="1828800" cy="512064"/>
          </a:xfrm>
          <a:prstGeom prst="rect">
            <a:avLst/>
          </a:prstGeom>
          <a:solidFill>
            <a:srgbClr val="14532D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1">
                <a:solidFill>
                  <a:srgbClr val="22C55E"/>
                </a:solidFill>
              </a:rPr>
              <a:t>intraday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39" y="5559552"/>
            <a:ext cx="137160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000" b="0">
                <a:solidFill>
                  <a:srgbClr val="94A3B8"/>
                </a:solidFill>
              </a:rPr>
              <a:t>Python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5559552"/>
            <a:ext cx="8138160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54864"/>
          <a:lstStyle/>
          <a:p>
            <a:pPr algn="l"/>
            <a:r>
              <a:rPr sz="1100" b="0">
                <a:solidFill>
                  <a:srgbClr val="CBD5E1"/>
                </a:solidFill>
              </a:rPr>
              <a:t>Position sync, R-ladder ratchet, exit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Key Configuration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658368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TOTAL_CAPITAL  </a:t>
            </a:r>
            <a:r>
              <a:rPr sz="1200" b="0">
                <a:solidFill>
                  <a:srgbClr val="F59E0B"/>
                </a:solidFill>
              </a:rPr>
              <a:t>$50,000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34440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DAILY_PROFIT_TARGET  </a:t>
            </a:r>
            <a:r>
              <a:rPr sz="1200" b="0">
                <a:solidFill>
                  <a:srgbClr val="F59E0B"/>
                </a:solidFill>
              </a:rPr>
              <a:t>$500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810512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MAX_POSITIONS  </a:t>
            </a:r>
            <a:r>
              <a:rPr sz="1200" b="0">
                <a:solidFill>
                  <a:srgbClr val="F59E0B"/>
                </a:solidFill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2386584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POSITION_SIZE  </a:t>
            </a:r>
            <a:r>
              <a:rPr sz="1200" b="0">
                <a:solidFill>
                  <a:srgbClr val="F59E0B"/>
                </a:solidFill>
              </a:rPr>
              <a:t>$3.5K / $3K / $2.5K  (H/M/L)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962656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TARGET_PCT  </a:t>
            </a:r>
            <a:r>
              <a:rPr sz="1200" b="0">
                <a:solidFill>
                  <a:srgbClr val="F59E0B"/>
                </a:solidFill>
              </a:rPr>
              <a:t>8%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3538727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ATR_STOP_MULTIPLIER  </a:t>
            </a:r>
            <a:r>
              <a:rPr sz="1200" b="0">
                <a:solidFill>
                  <a:srgbClr val="F59E0B"/>
                </a:solidFill>
              </a:rPr>
              <a:t>0.8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658368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ATR_STOP_FLOOR  </a:t>
            </a:r>
            <a:r>
              <a:rPr sz="1200" b="0">
                <a:solidFill>
                  <a:srgbClr val="F59E0B"/>
                </a:solidFill>
              </a:rPr>
              <a:t>0.5%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34440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MAX_LOSS_DOLLARS  </a:t>
            </a:r>
            <a:r>
              <a:rPr sz="1200" b="0">
                <a:solidFill>
                  <a:srgbClr val="F59E0B"/>
                </a:solidFill>
              </a:rPr>
              <a:t>$150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10512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MIN_REWARD_RISK  </a:t>
            </a:r>
            <a:r>
              <a:rPr sz="1200" b="0">
                <a:solidFill>
                  <a:srgbClr val="F59E0B"/>
                </a:solidFill>
              </a:rPr>
              <a:t>2.0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86584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DAILY_LOSS_LIMIT  </a:t>
            </a:r>
            <a:r>
              <a:rPr sz="1200" b="0">
                <a:solidFill>
                  <a:srgbClr val="F59E0B"/>
                </a:solidFill>
              </a:rPr>
              <a:t>-$500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962656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TRAIL_PCT  </a:t>
            </a:r>
            <a:r>
              <a:rPr sz="1200" b="0">
                <a:solidFill>
                  <a:srgbClr val="F59E0B"/>
                </a:solidFill>
              </a:rPr>
              <a:t>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538727"/>
            <a:ext cx="5577840" cy="530352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tIns="54864"/>
          <a:lstStyle/>
          <a:p>
            <a:pPr algn="l"/>
            <a:r>
              <a:rPr sz="1200" b="1">
                <a:solidFill>
                  <a:srgbClr val="3B82F6"/>
                </a:solidFill>
              </a:rPr>
              <a:t>POOL_SIZE  </a:t>
            </a:r>
            <a:r>
              <a:rPr sz="1200" b="0">
                <a:solidFill>
                  <a:srgbClr val="F59E0B"/>
                </a:solidFill>
              </a:rPr>
              <a:t>Pool1: 80  Pool2: 40  Pool3: 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Infrastructure &amp;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47472" y="1828800"/>
            <a:ext cx="3636264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GitHub Actions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Triggers premarket at 10:00 AM ET
Triggers entry_scan at 10:30 + 11:30
EOD at 3:55 PM 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47160" y="2514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4276344" y="1828800"/>
            <a:ext cx="3636264" cy="18288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cron-job.org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External backup cron
Intraday: 0,15,30,45 14-19 UTC
Entry: 30 14-18 UTC  EOD: 55 19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6032" y="251460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5215" y="1828800"/>
            <a:ext cx="3636264" cy="18288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22C55E"/>
                </a:solidFill>
              </a:rPr>
              <a:t>Supabase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b_positions, b_scan_results
b_daily_performance
Separate project from Strategy 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4434840"/>
            <a:ext cx="11457432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/>
            <a:r>
              <a:rPr sz="1400" b="1">
                <a:solidFill>
                  <a:srgbClr val="F59E0B"/>
                </a:solidFill>
              </a:rPr>
              <a:t>Separate Alpaca paper account from Strategy A — not shared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Strategy A and B can run on the same day simultaneously without interference.</a:t>
            </a:r>
          </a:p>
          <a:p>
            <a:pPr algn="l"/>
            <a:r>
              <a:rPr sz="1200" b="0">
                <a:solidFill>
                  <a:srgbClr val="CBD5E1"/>
                </a:solidFill>
              </a:rPr>
              <a:t>All tables prefixed b_ to avoid collision: b_positions, b_scan_results, b_daily_performance.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73152"/>
            <a:ext cx="11640312" cy="475488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2200" b="1">
                <a:solidFill>
                  <a:srgbClr val="FFFFFF"/>
                </a:solidFill>
              </a:rPr>
              <a:t>Order Execution — Bracket + R-Ladder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640080"/>
            <a:ext cx="11457432" cy="14173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sz="1600" b="1">
                <a:solidFill>
                  <a:srgbClr val="3B82F6"/>
                </a:solidFill>
              </a:rPr>
              <a:t>Alpaca Bracket Order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Entry limit (hybrid bid/mid)  +  Take-profit limit leg  +  Stop-loss leg</a:t>
            </a:r>
          </a:p>
          <a:p>
            <a:pPr algn="l"/>
            <a:r>
              <a:rPr sz="1300" b="0">
                <a:solidFill>
                  <a:srgbClr val="CBD5E1"/>
                </a:solidFill>
              </a:rPr>
              <a:t>Native trailing stop (1%) submitted after fill confirmation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2331720"/>
            <a:ext cx="3017520" cy="1371600"/>
          </a:xfrm>
          <a:prstGeom prst="rect">
            <a:avLst/>
          </a:prstGeom>
          <a:solidFill>
            <a:srgbClr val="1E3A8A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600" b="1">
                <a:solidFill>
                  <a:srgbClr val="3B82F6"/>
                </a:solidFill>
              </a:rPr>
              <a:t>Fill @ entry</a:t>
            </a:r>
          </a:p>
          <a:p>
            <a:pPr algn="ctr"/>
            <a:r>
              <a:rPr sz="1200" b="0">
                <a:solidFill>
                  <a:srgbClr val="CBD5E1"/>
                </a:solidFill>
              </a:rPr>
              <a:t>Stop = entry − 1R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20439" y="27889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0" y="2331720"/>
            <a:ext cx="3749039" cy="13716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500" b="1">
                <a:solidFill>
                  <a:srgbClr val="22C55E"/>
                </a:solidFill>
              </a:rPr>
              <a:t>+1R: stop → breakeven</a:t>
            </a:r>
          </a:p>
          <a:p>
            <a:pPr algn="ctr"/>
            <a:r>
              <a:rPr sz="1100" b="0">
                <a:solidFill>
                  <a:srgbClr val="CBD5E1"/>
                </a:solidFill>
              </a:rPr>
              <a:t>Cancel old stop, submit new stop at entry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78892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0" y="2331720"/>
            <a:ext cx="3429000" cy="1371600"/>
          </a:xfrm>
          <a:prstGeom prst="rect">
            <a:avLst/>
          </a:prstGeom>
          <a:solidFill>
            <a:srgbClr val="14532D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/>
            <a:r>
              <a:rPr sz="1500" b="1">
                <a:solidFill>
                  <a:srgbClr val="22C55E"/>
                </a:solidFill>
              </a:rPr>
              <a:t>+2R: stop → entry+R</a:t>
            </a:r>
          </a:p>
          <a:p>
            <a:pPr algn="ctr"/>
            <a:r>
              <a:rPr sz="1100" b="0">
                <a:solidFill>
                  <a:srgbClr val="CBD5E1"/>
                </a:solidFill>
              </a:rPr>
              <a:t>Guaranteed profit locked in
Trail continues beyond +2R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4160520"/>
            <a:ext cx="5760720" cy="1280160"/>
          </a:xfrm>
          <a:prstGeom prst="rect">
            <a:avLst/>
          </a:prstGeom>
          <a:solidFill>
            <a:srgbClr val="7F1D1D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/>
            <a:r>
              <a:rPr sz="1300" b="1">
                <a:solidFill>
                  <a:srgbClr val="EF4444"/>
                </a:solidFill>
              </a:rPr>
              <a:t>Eventually closes via: TARGET  ·  STOP  ·  NATIVE_TRAIL  ·  BONUS_TARGET  ·  EOD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3112" y="6528816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